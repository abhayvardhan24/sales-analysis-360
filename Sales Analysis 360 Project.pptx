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3" r:id="rId1"/>
  </p:sldMasterIdLst>
  <p:sldIdLst>
    <p:sldId id="256" r:id="rId2"/>
    <p:sldId id="257" r:id="rId3"/>
    <p:sldId id="266" r:id="rId4"/>
    <p:sldId id="267" r:id="rId5"/>
    <p:sldId id="268" r:id="rId6"/>
    <p:sldId id="258" r:id="rId7"/>
    <p:sldId id="259" r:id="rId8"/>
    <p:sldId id="260" r:id="rId9"/>
    <p:sldId id="261" r:id="rId10"/>
    <p:sldId id="262" r:id="rId11"/>
    <p:sldId id="264" r:id="rId12"/>
    <p:sldId id="265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5075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984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0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777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5088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729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7336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8179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3782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6161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41611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257565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96240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98622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0218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79868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314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7BE8C8B9-745B-4632-9380-8D504A4AB06F}" type="datetimeFigureOut">
              <a:rPr lang="en-IN" smtClean="0"/>
              <a:t>01-12-2025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A6D4BF-D48C-49CC-A47E-0CC5D8C860F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47556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74" r:id="rId1"/>
    <p:sldLayoutId id="2147483875" r:id="rId2"/>
    <p:sldLayoutId id="2147483876" r:id="rId3"/>
    <p:sldLayoutId id="2147483877" r:id="rId4"/>
    <p:sldLayoutId id="2147483878" r:id="rId5"/>
    <p:sldLayoutId id="2147483879" r:id="rId6"/>
    <p:sldLayoutId id="2147483880" r:id="rId7"/>
    <p:sldLayoutId id="2147483881" r:id="rId8"/>
    <p:sldLayoutId id="2147483882" r:id="rId9"/>
    <p:sldLayoutId id="2147483883" r:id="rId10"/>
    <p:sldLayoutId id="2147483884" r:id="rId11"/>
    <p:sldLayoutId id="2147483885" r:id="rId12"/>
    <p:sldLayoutId id="2147483886" r:id="rId13"/>
    <p:sldLayoutId id="2147483887" r:id="rId14"/>
    <p:sldLayoutId id="2147483888" r:id="rId15"/>
    <p:sldLayoutId id="2147483889" r:id="rId16"/>
    <p:sldLayoutId id="2147483890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8F814-B611-41BE-90AF-5B7E1EC604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01149"/>
            <a:ext cx="9144000" cy="3790122"/>
          </a:xfrm>
        </p:spPr>
        <p:txBody>
          <a:bodyPr>
            <a:normAutofit fontScale="90000"/>
          </a:bodyPr>
          <a:lstStyle/>
          <a:p>
            <a:r>
              <a:rPr lang="en-IN" dirty="0">
                <a:latin typeface="system-ui"/>
              </a:rPr>
              <a:t>Sales</a:t>
            </a:r>
            <a:r>
              <a:rPr lang="en-IN" b="0" i="0" dirty="0">
                <a:effectLst/>
                <a:latin typeface="system-ui"/>
              </a:rPr>
              <a:t> Analysis 360 Project</a:t>
            </a:r>
            <a:br>
              <a:rPr lang="en-IN" b="0" i="0" dirty="0">
                <a:effectLst/>
                <a:latin typeface="system-ui"/>
              </a:rPr>
            </a:br>
            <a:r>
              <a:rPr lang="en-IN" b="0" i="0" dirty="0">
                <a:effectLst/>
                <a:latin typeface="system-ui"/>
              </a:rPr>
              <a:t>                      </a:t>
            </a:r>
            <a:r>
              <a:rPr lang="en-IN" sz="3600" b="0" i="0" dirty="0">
                <a:effectLst/>
                <a:latin typeface="system-ui"/>
              </a:rPr>
              <a:t>By : Abhay Vardhan Pandey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2151236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E0517-4F45-4503-B842-862E778C1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dirty="0">
                <a:solidFill>
                  <a:schemeClr val="accent2">
                    <a:lumMod val="75000"/>
                  </a:schemeClr>
                </a:solidFill>
              </a:rPr>
              <a:t>1. Project Overview And Summary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55B53-8CC6-41E2-843D-160C3C659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1723"/>
            <a:ext cx="10515600" cy="50358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Comprehensive sales analytics solution covering revenue, margin, customer behavior, store performance, and product trends. - Uses SQL for extraction, Python for cleaning and EDA.</a:t>
            </a:r>
          </a:p>
          <a:p>
            <a:pPr marL="0" indent="0">
              <a:buNone/>
            </a:pPr>
            <a:r>
              <a:rPr lang="en-US" sz="4000" dirty="0">
                <a:solidFill>
                  <a:schemeClr val="accent2">
                    <a:lumMod val="75000"/>
                  </a:schemeClr>
                </a:solidFill>
              </a:rPr>
              <a:t>2. Objective </a:t>
            </a:r>
            <a:r>
              <a:rPr lang="en-US" dirty="0"/>
              <a:t>Understand sales across products, categories, stores, regions. - Identify growth opportunities and inefficiencies. - Highlight customer purchase patterns.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3200" dirty="0">
                <a:solidFill>
                  <a:schemeClr val="accent2">
                    <a:lumMod val="75000"/>
                  </a:schemeClr>
                </a:solidFill>
              </a:rPr>
              <a:t>3. Tools &amp; Technologies Used </a:t>
            </a:r>
            <a:r>
              <a:rPr lang="en-IN" dirty="0"/>
              <a:t>- SQL, Python, Pandas, NumPy, Matplotlib, Seaborn. 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3200" dirty="0">
                <a:solidFill>
                  <a:schemeClr val="accent2">
                    <a:lumMod val="75000"/>
                  </a:schemeClr>
                </a:solidFill>
              </a:rPr>
              <a:t>4. Data Sources </a:t>
            </a:r>
            <a:r>
              <a:rPr lang="en-IN" dirty="0"/>
              <a:t>- Orders, Product Master, Customer Master, Store Master, Returns. </a:t>
            </a: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7513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2C00B-EB8F-4499-8849-692DF8562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205948"/>
          </a:xfrm>
        </p:spPr>
        <p:txBody>
          <a:bodyPr>
            <a:normAutofit/>
          </a:bodyPr>
          <a:lstStyle/>
          <a:p>
            <a:r>
              <a:rPr lang="en-US" sz="3200" dirty="0"/>
              <a:t>2.KPIs: Sales, Margin%, GMV, AOV, Units Sold, Repeat Rate, Return Rate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2B59D-A220-495F-996B-79F2F3CBF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Total Sales</a:t>
            </a:r>
            <a:r>
              <a:rPr lang="en-US" sz="2000" dirty="0"/>
              <a:t>: 108913849.91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Total GMV</a:t>
            </a:r>
            <a:r>
              <a:rPr lang="en-US" sz="2000" dirty="0"/>
              <a:t>: 128133941.22 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Units Sold</a:t>
            </a:r>
            <a:r>
              <a:rPr lang="en-US" sz="2000" dirty="0"/>
              <a:t>: 50285 AOV: 5445.69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Margin %</a:t>
            </a:r>
            <a:r>
              <a:rPr lang="en-US" sz="2000" dirty="0"/>
              <a:t>: -15.47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Repeat Rate %: </a:t>
            </a:r>
            <a:r>
              <a:rPr lang="en-US" sz="2000" dirty="0"/>
              <a:t>92.60</a:t>
            </a:r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Return Rate %: </a:t>
            </a:r>
            <a:r>
              <a:rPr lang="en-US" sz="2000" dirty="0"/>
              <a:t>7.47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538517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B9F8B-BBA8-4499-9DCD-4ABFC6BDC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599"/>
            <a:ext cx="8771466" cy="1696279"/>
          </a:xfrm>
        </p:spPr>
        <p:txBody>
          <a:bodyPr>
            <a:normAutofit/>
          </a:bodyPr>
          <a:lstStyle/>
          <a:p>
            <a:r>
              <a:rPr lang="en-US" sz="2000" b="1" dirty="0"/>
              <a:t>Seasonal Trend: Revenue by Month:</a:t>
            </a:r>
            <a:br>
              <a:rPr lang="en-US" sz="2000" b="1" dirty="0"/>
            </a:br>
            <a:r>
              <a:rPr lang="en-US" sz="2000" b="1" dirty="0"/>
              <a:t> </a:t>
            </a:r>
            <a:br>
              <a:rPr lang="en-US" sz="2000" b="1" dirty="0"/>
            </a:br>
            <a:r>
              <a:rPr lang="en-US" sz="1600" dirty="0"/>
              <a:t>January 9055508.48                         February 8298269.92                March 9471519.30 </a:t>
            </a:r>
            <a:br>
              <a:rPr lang="en-US" sz="1600" dirty="0"/>
            </a:br>
            <a:r>
              <a:rPr lang="en-US" sz="1600" dirty="0"/>
              <a:t>April 8804584.72                              May 9464628.24                       June 8931666.70</a:t>
            </a:r>
            <a:br>
              <a:rPr lang="en-US" sz="1600" dirty="0"/>
            </a:br>
            <a:r>
              <a:rPr lang="en-US" sz="1600" dirty="0"/>
              <a:t>July 9163736.81                               August 9229816.43                   September 9177392.63</a:t>
            </a:r>
            <a:br>
              <a:rPr lang="en-US" sz="1600" dirty="0"/>
            </a:br>
            <a:r>
              <a:rPr lang="en-US" sz="1600" dirty="0"/>
              <a:t>October 9322530.67                         November 8987982.99              December 9006213.03 </a:t>
            </a:r>
            <a:endParaRPr lang="en-IN" sz="1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47044EC-60D6-4A17-BBCC-2B1C93809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388" y="2451651"/>
            <a:ext cx="10327377" cy="4108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6586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D30D2-69CD-41A6-91D6-454BBF632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22852"/>
          </a:xfrm>
        </p:spPr>
        <p:txBody>
          <a:bodyPr>
            <a:normAutofit/>
          </a:bodyPr>
          <a:lstStyle/>
          <a:p>
            <a:r>
              <a:rPr lang="en-US" sz="3200" dirty="0"/>
              <a:t>Seasonal Trend: Revenue by Week Day :</a:t>
            </a:r>
            <a:endParaRPr lang="en-IN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775C1-14C1-466E-AB64-A848E2AE11F9}"/>
              </a:ext>
            </a:extLst>
          </p:cNvPr>
          <p:cNvSpPr txBox="1"/>
          <p:nvPr/>
        </p:nvSpPr>
        <p:spPr>
          <a:xfrm>
            <a:off x="677333" y="5528317"/>
            <a:ext cx="8082353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In Weekends and mid-week like (Wednesday, Thursday) show higher revenue, Its indicates strong consumer activity during these period. </a:t>
            </a:r>
            <a:endParaRPr lang="en-IN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8920BB-B892-4188-A543-4D2A18837E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71" y="1232451"/>
            <a:ext cx="9780104" cy="4530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1973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0D6F6-70B4-4F48-956E-D5EFF638A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5617" y="185531"/>
            <a:ext cx="10638183" cy="59914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>
                <a:solidFill>
                  <a:schemeClr val="accent2">
                    <a:lumMod val="75000"/>
                  </a:schemeClr>
                </a:solidFill>
              </a:rPr>
              <a:t>Business Requirement</a:t>
            </a:r>
            <a:r>
              <a:rPr lang="en-IN" dirty="0"/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Top and Bottom SKUs : It is Identify to top and bottom selling products is vital 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for inventory management, marketing focus, and product development strategies.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072C396-C8A5-40A4-92A8-D4C84976B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65" y="1457739"/>
            <a:ext cx="5844209" cy="449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0B357A9-F7B4-4439-A292-EFB4039EC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722784"/>
            <a:ext cx="5257800" cy="4227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B6C929-B5A7-4146-9135-E3215D135AEE}"/>
              </a:ext>
            </a:extLst>
          </p:cNvPr>
          <p:cNvSpPr txBox="1"/>
          <p:nvPr/>
        </p:nvSpPr>
        <p:spPr>
          <a:xfrm>
            <a:off x="347870" y="5828666"/>
            <a:ext cx="59071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Product_191, Product_383, and Product_124 are top selling products, which indicates strong market demand and customer preference.</a:t>
            </a:r>
            <a:endParaRPr lang="en-IN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F47477-1209-483A-9386-8FC9F1BFD962}"/>
              </a:ext>
            </a:extLst>
          </p:cNvPr>
          <p:cNvSpPr txBox="1"/>
          <p:nvPr/>
        </p:nvSpPr>
        <p:spPr>
          <a:xfrm>
            <a:off x="6414056" y="5857331"/>
            <a:ext cx="61026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Bottom performing product are require immediate attention for potential discontinuation, repricing, or marketing adjustments</a:t>
            </a:r>
            <a:endParaRPr lang="en-IN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69257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D6281-9AD5-422C-BAA4-15F1063FA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002078" cy="801065"/>
          </a:xfrm>
        </p:spPr>
        <p:txBody>
          <a:bodyPr>
            <a:normAutofit fontScale="90000"/>
          </a:bodyPr>
          <a:lstStyle/>
          <a:p>
            <a:r>
              <a:rPr lang="en-IN" sz="2000" dirty="0">
                <a:solidFill>
                  <a:schemeClr val="accent2"/>
                </a:solidFill>
              </a:rPr>
              <a:t>Category-wise Revenue </a:t>
            </a:r>
            <a:r>
              <a:rPr lang="en-IN" sz="2000" dirty="0"/>
              <a:t>: In this Fashionable or fashion related category are doing</a:t>
            </a:r>
            <a:br>
              <a:rPr lang="en-IN" sz="2000" dirty="0"/>
            </a:br>
            <a:r>
              <a:rPr lang="en-IN" sz="2000" dirty="0"/>
              <a:t>very well and electronics item look to root cause analysis why there revenue is not good.</a:t>
            </a:r>
            <a:br>
              <a:rPr lang="en-IN" sz="2000" dirty="0"/>
            </a:br>
            <a:r>
              <a:rPr lang="en-IN" sz="2000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3EDAC0-951B-4809-9909-9D55C0FB0C37}"/>
              </a:ext>
            </a:extLst>
          </p:cNvPr>
          <p:cNvSpPr txBox="1"/>
          <p:nvPr/>
        </p:nvSpPr>
        <p:spPr>
          <a:xfrm>
            <a:off x="455056" y="3949148"/>
            <a:ext cx="269896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Brand – Wise Revenue : </a:t>
            </a:r>
            <a:r>
              <a:rPr lang="en-US" dirty="0">
                <a:solidFill>
                  <a:schemeClr val="accent1"/>
                </a:solidFill>
              </a:rPr>
              <a:t>Brand B is doing very well and brand D is as not good compare to A so brand D also doing some why why analysis </a:t>
            </a: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 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1584874-DC07-4550-A5C7-DABD6A1B8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32" y="1007164"/>
            <a:ext cx="7796568" cy="2796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B1C1BC-0C4E-4CE4-80B6-135813FEB9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9304" y="3949148"/>
            <a:ext cx="6679096" cy="2796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9399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B4C56-89E2-450C-AF18-63FC7C174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2872409" cy="3305724"/>
          </a:xfrm>
        </p:spPr>
        <p:txBody>
          <a:bodyPr>
            <a:normAutofit fontScale="90000"/>
          </a:bodyPr>
          <a:lstStyle/>
          <a:p>
            <a:r>
              <a:rPr lang="en-IN" sz="2400" b="1" i="0" dirty="0">
                <a:solidFill>
                  <a:schemeClr val="accent2">
                    <a:lumMod val="7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Store &amp; Region Analysis </a:t>
            </a:r>
            <a:r>
              <a:rPr lang="en-IN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IN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/>
              <a:t>Store_18, Store_145, and Store_3 are consistently among the top performers, contributing significantly to overall revenue.</a:t>
            </a:r>
            <a:br>
              <a:rPr lang="en-IN" sz="2000" b="1" i="0" dirty="0">
                <a:effectLst/>
                <a:cs typeface="Times New Roman" panose="02020603050405020304" pitchFamily="18" charset="0"/>
              </a:rPr>
            </a:br>
            <a:r>
              <a:rPr lang="en-IN" sz="24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IN" sz="1100" b="0" i="0" dirty="0">
                <a:effectLst/>
                <a:latin typeface="system-ui"/>
              </a:rPr>
            </a:br>
            <a:endParaRPr lang="en-IN" sz="2000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C1911-51AE-435B-9242-AC8D2D2E1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41912"/>
            <a:ext cx="2872409" cy="26901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City – Wise Revenue 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City like Mumbai and Pune are top performance in revenue and Delhi look what happened why customer not like or what are the region behind.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56D8397-45DD-42A7-8175-CED533A1B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8903" y="4187687"/>
            <a:ext cx="7279170" cy="2544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385B7FA5-4F7A-4438-B75C-8D6A094CA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8903" y="190500"/>
            <a:ext cx="7279171" cy="3851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4402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7EC56-CC41-4DFA-BD7C-3EBCDD021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542184" cy="2351570"/>
          </a:xfrm>
        </p:spPr>
        <p:txBody>
          <a:bodyPr>
            <a:normAutofit/>
          </a:bodyPr>
          <a:lstStyle/>
          <a:p>
            <a:r>
              <a:rPr lang="en-IN" sz="2000" dirty="0">
                <a:solidFill>
                  <a:schemeClr val="accent2"/>
                </a:solidFill>
              </a:rPr>
              <a:t>Customer Insights &amp; Return Analysis</a:t>
            </a:r>
            <a:r>
              <a:rPr lang="en-US" sz="2000" b="1" dirty="0">
                <a:solidFill>
                  <a:schemeClr val="accent2"/>
                </a:solidFill>
                <a:latin typeface="+mn-lt"/>
              </a:rPr>
              <a:t> </a:t>
            </a:r>
            <a:r>
              <a:rPr lang="en-US" sz="2000" dirty="0">
                <a:latin typeface="+mn-lt"/>
              </a:rPr>
              <a:t>:</a:t>
            </a:r>
            <a:br>
              <a:rPr lang="en-US" sz="2000" dirty="0">
                <a:latin typeface="+mn-lt"/>
              </a:rPr>
            </a:br>
            <a:r>
              <a:rPr lang="en-US" sz="1800" dirty="0"/>
              <a:t>Returning customers typically generate more revenue because they </a:t>
            </a:r>
            <a:r>
              <a:rPr lang="en-US" sz="1800" b="1" dirty="0"/>
              <a:t>trust your brand, are familiar with the product, respond to marketing, and purchase more consistently</a:t>
            </a:r>
            <a:r>
              <a:rPr lang="en-US" sz="1800" dirty="0"/>
              <a:t>, whereas new customers are still exploring.</a:t>
            </a:r>
            <a:r>
              <a:rPr lang="en-US" sz="1800" dirty="0">
                <a:latin typeface="+mn-lt"/>
              </a:rPr>
              <a:t> </a:t>
            </a:r>
            <a:endParaRPr lang="en-IN" sz="1800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CECFA-4215-462C-949B-B8895828D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716696"/>
            <a:ext cx="2315817" cy="346026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Return Reason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: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100" b="1" dirty="0">
                <a:solidFill>
                  <a:schemeClr val="accent1"/>
                </a:solidFill>
                <a:latin typeface="+mj-lt"/>
              </a:rPr>
              <a:t>Improve product quality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00" b="1" dirty="0">
                <a:solidFill>
                  <a:schemeClr val="accent1"/>
                </a:solidFill>
                <a:latin typeface="+mj-lt"/>
              </a:rPr>
              <a:t>Update descriptions and sizing info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00" b="1" dirty="0">
                <a:solidFill>
                  <a:schemeClr val="accent1"/>
                </a:solidFill>
                <a:latin typeface="+mj-lt"/>
              </a:rPr>
              <a:t>Reduce shipping issues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100" b="1" dirty="0">
                <a:solidFill>
                  <a:schemeClr val="accent1"/>
                </a:solidFill>
                <a:latin typeface="+mj-lt"/>
              </a:rPr>
              <a:t>Target customer satisfaction initiatives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A8104755-6F61-49C0-9B27-55FF31040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0384" y="106018"/>
            <a:ext cx="4094920" cy="2902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00B8D7B8-34F1-4A3A-A5D4-BE1047FED9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6051" y="3140764"/>
            <a:ext cx="6771861" cy="335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7804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478EE-F800-43A2-8591-28FBEFEFA2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58418"/>
            <a:ext cx="11208027" cy="59185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Correlation Analysis : </a:t>
            </a:r>
            <a:endParaRPr lang="en-US" sz="2000" dirty="0"/>
          </a:p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r>
              <a:rPr lang="en-IN" sz="2000" b="1" dirty="0">
                <a:solidFill>
                  <a:schemeClr val="accent2">
                    <a:lumMod val="75000"/>
                  </a:schemeClr>
                </a:solidFill>
              </a:rPr>
              <a:t>EDA Analysis :</a:t>
            </a:r>
          </a:p>
          <a:p>
            <a:pPr marL="0" indent="0">
              <a:buNone/>
            </a:pPr>
            <a:r>
              <a:rPr lang="en-IN" sz="2000" b="1" dirty="0">
                <a:solidFill>
                  <a:schemeClr val="accent2">
                    <a:lumMod val="75000"/>
                  </a:schemeClr>
                </a:solidFill>
              </a:rPr>
              <a:t>AOV Distribution : 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2C4084CD-13CC-4106-8DC4-B8D2907C5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3373" y="106017"/>
            <a:ext cx="5393636" cy="3322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BE849047-B5FF-4B86-861B-A4A1331F9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4748" y="3581401"/>
            <a:ext cx="7152240" cy="3170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8268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D7A04-13EC-4FDF-8A0D-460A9116A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06017"/>
            <a:ext cx="8596668" cy="490331"/>
          </a:xfrm>
        </p:spPr>
        <p:txBody>
          <a:bodyPr>
            <a:normAutofit/>
          </a:bodyPr>
          <a:lstStyle/>
          <a:p>
            <a:r>
              <a:rPr lang="en-US" sz="2400" b="1" dirty="0"/>
              <a:t>Region Revenue Heatmap (Bar Chart) :</a:t>
            </a:r>
            <a:endParaRPr lang="en-IN" sz="2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8FEA0-1937-4399-98F1-7617EB4EA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1878" y="3429000"/>
            <a:ext cx="8492124" cy="26123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>
                <a:solidFill>
                  <a:schemeClr val="accent2">
                    <a:lumMod val="75000"/>
                  </a:schemeClr>
                </a:solidFill>
              </a:rPr>
              <a:t>Visualize anomalies :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A684951-295E-497A-AED6-5FF27A0E8F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678" y="833439"/>
            <a:ext cx="8322365" cy="2595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CDAA942B-58CF-477D-B937-7678CAB92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3964" y="3975652"/>
            <a:ext cx="9377776" cy="2612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4602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C4108-1228-4760-8E3E-55ED63076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090" y="371061"/>
            <a:ext cx="9222040" cy="571005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Recommendations: </a:t>
            </a:r>
          </a:p>
          <a:p>
            <a:pPr marL="0" indent="0">
              <a:buNone/>
            </a:pP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Prioritize inventory and marketing for top products.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Target low-performing regions with campaigns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Retain high-value customer segments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Reduce returns through product quality checks / better descriptions / better offers.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Increase stock for top SKUs.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Target high-value customers.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Allocate budget to strong regions.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Reduce discounts on low-margin items to protect profitability.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Launch retention programs since returning customers drive more revenue. Improve product visibility for high-margin but low-sales items.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Prepare inventory and staff ahead of peak seasonal months.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92D050"/>
                </a:solidFill>
              </a:rPr>
              <a:t>Enhance customer experience through faster delivery and better support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673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8D77965-C07E-4CBD-8F01-C940FE5C00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540" y="92765"/>
            <a:ext cx="11754678" cy="6652591"/>
          </a:xfrm>
        </p:spPr>
      </p:pic>
    </p:spTree>
    <p:extLst>
      <p:ext uri="{BB962C8B-B14F-4D97-AF65-F5344CB8AC3E}">
        <p14:creationId xmlns:p14="http://schemas.microsoft.com/office/powerpoint/2010/main" val="142624762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293</TotalTime>
  <Words>604</Words>
  <Application>Microsoft Office PowerPoint</Application>
  <PresentationFormat>Widescreen</PresentationFormat>
  <Paragraphs>70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Century Gothic</vt:lpstr>
      <vt:lpstr>system-ui</vt:lpstr>
      <vt:lpstr>Times New Roman</vt:lpstr>
      <vt:lpstr>Wingdings</vt:lpstr>
      <vt:lpstr>Wingdings 3</vt:lpstr>
      <vt:lpstr>Ion</vt:lpstr>
      <vt:lpstr>Sales Analysis 360 Project                       By : Abhay Vardhan Pandey</vt:lpstr>
      <vt:lpstr>1. Project Overview And Summary </vt:lpstr>
      <vt:lpstr>2.KPIs: Sales, Margin%, GMV, AOV, Units Sold, Repeat Rate, Return Rate</vt:lpstr>
      <vt:lpstr>Seasonal Trend: Revenue by Month:   January 9055508.48                         February 8298269.92                March 9471519.30  April 8804584.72                              May 9464628.24                       June 8931666.70 July 9163736.81                               August 9229816.43                   September 9177392.63 October 9322530.67                         November 8987982.99              December 9006213.03 </vt:lpstr>
      <vt:lpstr>Seasonal Trend: Revenue by Week Day :</vt:lpstr>
      <vt:lpstr>PowerPoint Presentation</vt:lpstr>
      <vt:lpstr>Category-wise Revenue : In this Fashionable or fashion related category are doing very well and electronics item look to root cause analysis why there revenue is not good.  </vt:lpstr>
      <vt:lpstr>Store &amp; Region Analysis :  Store_18, Store_145, and Store_3 are consistently among the top performers, contributing significantly to overall revenue.   </vt:lpstr>
      <vt:lpstr>Customer Insights &amp; Return Analysis : Returning customers typically generate more revenue because they trust your brand, are familiar with the product, respond to marketing, and purchase more consistently, whereas new customers are still exploring. </vt:lpstr>
      <vt:lpstr>PowerPoint Presentation</vt:lpstr>
      <vt:lpstr>Region Revenue Heatmap (Bar Chart) :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Fraud Transaction Analysis Project                       By : Abhay Vardhan Pandey</dc:title>
  <dc:creator>DELL</dc:creator>
  <cp:lastModifiedBy>DELL</cp:lastModifiedBy>
  <cp:revision>24</cp:revision>
  <dcterms:created xsi:type="dcterms:W3CDTF">2025-11-10T12:00:40Z</dcterms:created>
  <dcterms:modified xsi:type="dcterms:W3CDTF">2025-12-01T15:56:05Z</dcterms:modified>
</cp:coreProperties>
</file>